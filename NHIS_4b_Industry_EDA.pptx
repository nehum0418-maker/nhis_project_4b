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900" b="1" i="0" u="none" strike="noStrike">
                <a:solidFill>
                  <a:srgbClr val="1E3A5F"/>
                </a:solidFill>
                <a:latin typeface="Arial"/>
              </a:rPr>
              <a:t>Employee Count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 Count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100-1K</c:v>
                  </c:pt>
                  <c:pt idx="1">
                    <c:v>1K-2K</c:v>
                  </c:pt>
                  <c:pt idx="2">
                    <c:v>2K-3K</c:v>
                  </c:pt>
                  <c:pt idx="3">
                    <c:v>3K-4K</c:v>
                  </c:pt>
                  <c:pt idx="4">
                    <c:v>4K-5K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2987</c:v>
                </c:pt>
                <c:pt idx="1">
                  <c:v>2996</c:v>
                </c:pt>
                <c:pt idx="2">
                  <c:v>3021</c:v>
                </c:pt>
                <c:pt idx="3">
                  <c:v>3006</c:v>
                </c:pt>
                <c:pt idx="4">
                  <c:v>2990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900" b="1" i="0" u="none" strike="noStrike">
                <a:solidFill>
                  <a:srgbClr val="1E3A5F"/>
                </a:solidFill>
                <a:latin typeface="Arial"/>
              </a:rPr>
              <a:t>Annual Revenue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($M)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&lt;200</c:v>
                  </c:pt>
                  <c:pt idx="1">
                    <c:v>200-400</c:v>
                  </c:pt>
                  <c:pt idx="2">
                    <c:v>400-600</c:v>
                  </c:pt>
                  <c:pt idx="3">
                    <c:v>600-800</c:v>
                  </c:pt>
                  <c:pt idx="4">
                    <c:v>800+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2994</c:v>
                </c:pt>
                <c:pt idx="1">
                  <c:v>3012</c:v>
                </c:pt>
                <c:pt idx="2">
                  <c:v>3001</c:v>
                </c:pt>
                <c:pt idx="3">
                  <c:v>2997</c:v>
                </c:pt>
                <c:pt idx="4">
                  <c:v>2996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900" b="1" i="0" u="none" strike="noStrike">
                <a:solidFill>
                  <a:srgbClr val="1E3A5F"/>
                </a:solidFill>
                <a:latin typeface="Arial"/>
              </a:rPr>
              <a:t>Profit Margin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(%)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&lt;10</c:v>
                  </c:pt>
                  <c:pt idx="1">
                    <c:v>10-20</c:v>
                  </c:pt>
                  <c:pt idx="2">
                    <c:v>20-30</c:v>
                  </c:pt>
                  <c:pt idx="3">
                    <c:v>30-40</c:v>
                  </c:pt>
                  <c:pt idx="4">
                    <c:v>40+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2990</c:v>
                </c:pt>
                <c:pt idx="1">
                  <c:v>3004</c:v>
                </c:pt>
                <c:pt idx="2">
                  <c:v>3001</c:v>
                </c:pt>
                <c:pt idx="3">
                  <c:v>3000</c:v>
                </c:pt>
                <c:pt idx="4">
                  <c:v>3005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900" b="1" i="0" u="none" strike="noStrike">
                <a:solidFill>
                  <a:srgbClr val="1E3A5F"/>
                </a:solidFill>
                <a:latin typeface="Arial"/>
              </a:rPr>
              <a:t>Customer Count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Count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&lt;20K</c:v>
                  </c:pt>
                  <c:pt idx="1">
                    <c:v>20-40K</c:v>
                  </c:pt>
                  <c:pt idx="2">
                    <c:v>40-60K</c:v>
                  </c:pt>
                  <c:pt idx="3">
                    <c:v>60-80K</c:v>
                  </c:pt>
                  <c:pt idx="4">
                    <c:v>80K+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3005</c:v>
                </c:pt>
                <c:pt idx="1">
                  <c:v>2996</c:v>
                </c:pt>
                <c:pt idx="2">
                  <c:v>2998</c:v>
                </c:pt>
                <c:pt idx="3">
                  <c:v>3001</c:v>
                </c:pt>
                <c:pt idx="4">
                  <c:v>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900" b="1" i="0" u="none" strike="noStrike">
                <a:solidFill>
                  <a:srgbClr val="1E3A5F"/>
                </a:solidFill>
                <a:latin typeface="Arial"/>
              </a:rPr>
              <a:t>Market Rating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Rating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0-1</c:v>
                  </c:pt>
                  <c:pt idx="1">
                    <c:v>1-2</c:v>
                  </c:pt>
                  <c:pt idx="2">
                    <c:v>2-3</c:v>
                  </c:pt>
                  <c:pt idx="3">
                    <c:v>3-4</c:v>
                  </c:pt>
                  <c:pt idx="4">
                    <c:v>4-5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3015</c:v>
                </c:pt>
                <c:pt idx="1">
                  <c:v>2991</c:v>
                </c:pt>
                <c:pt idx="2">
                  <c:v>2996</c:v>
                </c:pt>
                <c:pt idx="3">
                  <c:v>2987</c:v>
                </c:pt>
                <c:pt idx="4">
                  <c:v>3011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900" b="1" i="0" u="none" strike="noStrike">
                <a:solidFill>
                  <a:srgbClr val="1E3A5F"/>
                </a:solidFill>
                <a:latin typeface="Arial"/>
              </a:rPr>
              <a:t>Founded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Founded Year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1980s</c:v>
                  </c:pt>
                  <c:pt idx="1">
                    <c:v>1990s</c:v>
                  </c:pt>
                  <c:pt idx="2">
                    <c:v>2000s</c:v>
                  </c:pt>
                  <c:pt idx="3">
                    <c:v>2010s</c:v>
                  </c:pt>
                  <c:pt idx="4">
                    <c:v>2020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2001</c:v>
                </c:pt>
                <c:pt idx="1">
                  <c:v>2994</c:v>
                </c:pt>
                <c:pt idx="2">
                  <c:v>3999</c:v>
                </c:pt>
                <c:pt idx="3">
                  <c:v>5800</c:v>
                </c:pt>
                <c:pt idx="4">
                  <c:v>206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1" i="0" u="none" strike="noStrike">
                <a:solidFill>
                  <a:srgbClr val="1E3A5F"/>
                </a:solidFill>
                <a:latin typeface="Arial"/>
              </a:rPr>
              <a:t>Industry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Industries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Finance</c:v>
                </c:pt>
                <c:pt idx="1">
                  <c:v>Technology</c:v>
                </c:pt>
                <c:pt idx="2">
                  <c:v>Retail</c:v>
                </c:pt>
                <c:pt idx="3">
                  <c:v>Manufacturing</c:v>
                </c:pt>
                <c:pt idx="4">
                  <c:v>Healthcare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3000</c:v>
                </c:pt>
                <c:pt idx="1">
                  <c:v>3000</c:v>
                </c:pt>
                <c:pt idx="2">
                  <c:v>3000</c:v>
                </c:pt>
                <c:pt idx="3">
                  <c:v>3000</c:v>
                </c:pt>
                <c:pt idx="4">
                  <c:v>3000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1" i="0" u="none" strike="noStrike">
                <a:solidFill>
                  <a:srgbClr val="1E3A5F"/>
                </a:solidFill>
                <a:latin typeface="Arial"/>
              </a:rPr>
              <a:t>Country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Companies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4C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India</c:v>
                  </c:pt>
                  <c:pt idx="1">
                    <c:v>Germany</c:v>
                  </c:pt>
                  <c:pt idx="2">
                    <c:v>Canada</c:v>
                  </c:pt>
                  <c:pt idx="3">
                    <c:v>USA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3750</c:v>
                </c:pt>
                <c:pt idx="1">
                  <c:v>3750</c:v>
                </c:pt>
                <c:pt idx="2">
                  <c:v>3750</c:v>
                </c:pt>
                <c:pt idx="3">
                  <c:v>3750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1" i="0" u="none" strike="noStrike">
                <a:solidFill>
                  <a:srgbClr val="1E3A5F"/>
                </a:solidFill>
                <a:latin typeface="Arial"/>
              </a:rPr>
              <a:t>Region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North America</c:v>
                </c:pt>
                <c:pt idx="1">
                  <c:v>Asia</c:v>
                </c:pt>
                <c:pt idx="2">
                  <c:v>Europe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7500</c:v>
                </c:pt>
                <c:pt idx="1">
                  <c:v>3750</c:v>
                </c:pt>
                <c:pt idx="2">
                  <c:v>3750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1" i="0" u="none" strike="noStrike">
                <a:solidFill>
                  <a:srgbClr val="1E3A5F"/>
                </a:solidFill>
                <a:latin typeface="Arial"/>
              </a:rPr>
              <a:t>Industry: Revenue vs Profit Margin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 ($M)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Finance</c:v>
                  </c:pt>
                  <c:pt idx="1">
                    <c:v>Healthcare</c:v>
                  </c:pt>
                  <c:pt idx="2">
                    <c:v>Manufacturing</c:v>
                  </c:pt>
                  <c:pt idx="3">
                    <c:v>Retail</c:v>
                  </c:pt>
                  <c:pt idx="4">
                    <c:v>Technology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552.8</c:v>
                </c:pt>
                <c:pt idx="1">
                  <c:v>543.5</c:v>
                </c:pt>
                <c:pt idx="2">
                  <c:v>545.6</c:v>
                </c:pt>
                <c:pt idx="3">
                  <c:v>556.6</c:v>
                </c:pt>
                <c:pt idx="4">
                  <c:v>550.2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Profit Margin×20 (scaled)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Finance</c:v>
                  </c:pt>
                  <c:pt idx="1">
                    <c:v>Healthcare</c:v>
                  </c:pt>
                  <c:pt idx="2">
                    <c:v>Manufacturing</c:v>
                  </c:pt>
                  <c:pt idx="3">
                    <c:v>Retail</c:v>
                  </c:pt>
                  <c:pt idx="4">
                    <c:v>Technology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506</c:v>
                </c:pt>
                <c:pt idx="1">
                  <c:v>497.6</c:v>
                </c:pt>
                <c:pt idx="2">
                  <c:v>495.2</c:v>
                </c:pt>
                <c:pt idx="3">
                  <c:v>501.8</c:v>
                </c:pt>
                <c:pt idx="4">
                  <c:v>500.6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1" i="0" u="none" strike="noStrike">
                <a:solidFill>
                  <a:srgbClr val="1E3A5F"/>
                </a:solidFill>
                <a:latin typeface="Arial"/>
              </a:rPr>
              <a:t>Market Rating by Region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Market Rating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4C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Asia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2.51</c:v>
                </c:pt>
                <c:pt idx="1">
                  <c:v>2.52</c:v>
                </c:pt>
                <c:pt idx="2">
                  <c:v>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1" i="0" u="none" strike="noStrike">
                <a:solidFill>
                  <a:srgbClr val="1E3A5F"/>
                </a:solidFill>
                <a:latin typeface="Arial"/>
              </a:rPr>
              <a:t>Avg Employees by Country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Employees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4C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India</c:v>
                  </c:pt>
                  <c:pt idx="1">
                    <c:v>Germany</c:v>
                  </c:pt>
                  <c:pt idx="2">
                    <c:v>Canada</c:v>
                  </c:pt>
                  <c:pt idx="3">
                    <c:v>USA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2613</c:v>
                </c:pt>
                <c:pt idx="1">
                  <c:v>2607</c:v>
                </c:pt>
                <c:pt idx="2">
                  <c:v>2594</c:v>
                </c:pt>
                <c:pt idx="3">
                  <c:v>2613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1" i="0" u="none" strike="noStrike">
                <a:solidFill>
                  <a:srgbClr val="1E3A5F"/>
                </a:solidFill>
                <a:latin typeface="Arial"/>
              </a:rPr>
              <a:t>Avg Revenue by Industry × Region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Asia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Finance</c:v>
                  </c:pt>
                  <c:pt idx="1">
                    <c:v>Healthcare</c:v>
                  </c:pt>
                  <c:pt idx="2">
                    <c:v>Manufacturing</c:v>
                  </c:pt>
                  <c:pt idx="3">
                    <c:v>Retail</c:v>
                  </c:pt>
                  <c:pt idx="4">
                    <c:v>Technology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552</c:v>
                </c:pt>
                <c:pt idx="1">
                  <c:v>544</c:v>
                </c:pt>
                <c:pt idx="2">
                  <c:v>545</c:v>
                </c:pt>
                <c:pt idx="3">
                  <c:v>557</c:v>
                </c:pt>
                <c:pt idx="4">
                  <c:v>551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Finance</c:v>
                  </c:pt>
                  <c:pt idx="1">
                    <c:v>Healthcare</c:v>
                  </c:pt>
                  <c:pt idx="2">
                    <c:v>Manufacturing</c:v>
                  </c:pt>
                  <c:pt idx="3">
                    <c:v>Retail</c:v>
                  </c:pt>
                  <c:pt idx="4">
                    <c:v>Technology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554</c:v>
                </c:pt>
                <c:pt idx="1">
                  <c:v>542</c:v>
                </c:pt>
                <c:pt idx="2">
                  <c:v>547</c:v>
                </c:pt>
                <c:pt idx="3">
                  <c:v>555</c:v>
                </c:pt>
                <c:pt idx="4">
                  <c:v>549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Finance</c:v>
                  </c:pt>
                  <c:pt idx="1">
                    <c:v>Healthcare</c:v>
                  </c:pt>
                  <c:pt idx="2">
                    <c:v>Manufacturing</c:v>
                  </c:pt>
                  <c:pt idx="3">
                    <c:v>Retail</c:v>
                  </c:pt>
                  <c:pt idx="4">
                    <c:v>Technology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553</c:v>
                </c:pt>
                <c:pt idx="1">
                  <c:v>544</c:v>
                </c:pt>
                <c:pt idx="2">
                  <c:v>545</c:v>
                </c:pt>
                <c:pt idx="3">
                  <c:v>557</c:v>
                </c:pt>
                <c:pt idx="4">
                  <c:v>550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0"/>
          <c:min val="5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1" i="0" u="none" strike="noStrike">
                <a:solidFill>
                  <a:srgbClr val="1E3A5F"/>
                </a:solidFill>
                <a:latin typeface="Arial"/>
              </a:rPr>
              <a:t>Revenue Trend by Founding Decade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Finance</c:v>
                </c:pt>
              </c:strCache>
            </c:strRef>
          </c:tx>
          <c:spPr>
            <a:solidFill>
              <a:srgbClr val="0F4C81"/>
            </a:solidFill>
            <a:ln w="31750" cap="flat">
              <a:solidFill>
                <a:srgbClr val="0F4C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4C81"/>
              </a:solidFill>
              <a:ln w="9525" cap="flat">
                <a:solidFill>
                  <a:srgbClr val="0F4C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1980s</c:v>
                  </c:pt>
                  <c:pt idx="1">
                    <c:v>1990s</c:v>
                  </c:pt>
                  <c:pt idx="2">
                    <c:v>2000s</c:v>
                  </c:pt>
                  <c:pt idx="3">
                    <c:v>2010s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550</c:v>
                </c:pt>
                <c:pt idx="1">
                  <c:v>548</c:v>
                </c:pt>
                <c:pt idx="2">
                  <c:v>554</c:v>
                </c:pt>
                <c:pt idx="3">
                  <c:v>556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Technology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1980s</c:v>
                  </c:pt>
                  <c:pt idx="1">
                    <c:v>1990s</c:v>
                  </c:pt>
                  <c:pt idx="2">
                    <c:v>2000s</c:v>
                  </c:pt>
                  <c:pt idx="3">
                    <c:v>2010s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548</c:v>
                </c:pt>
                <c:pt idx="1">
                  <c:v>551</c:v>
                </c:pt>
                <c:pt idx="2">
                  <c:v>549</c:v>
                </c:pt>
                <c:pt idx="3">
                  <c:v>552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Retail</c:v>
                </c:pt>
              </c:strCache>
            </c:strRef>
          </c:tx>
          <c:spPr>
            <a:solidFill>
              <a:srgbClr val="7C3AED"/>
            </a:solidFill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1980s</c:v>
                  </c:pt>
                  <c:pt idx="1">
                    <c:v>1990s</c:v>
                  </c:pt>
                  <c:pt idx="2">
                    <c:v>2000s</c:v>
                  </c:pt>
                  <c:pt idx="3">
                    <c:v>2010s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554</c:v>
                </c:pt>
                <c:pt idx="1">
                  <c:v>558</c:v>
                </c:pt>
                <c:pt idx="2">
                  <c:v>556</c:v>
                </c:pt>
                <c:pt idx="3">
                  <c:v>558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Manufacturing</c:v>
                </c:pt>
              </c:strCache>
            </c:strRef>
          </c:tx>
          <c:spPr>
            <a:solidFill>
              <a:srgbClr val="D97706"/>
            </a:solidFill>
            <a:ln w="3175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1980s</c:v>
                  </c:pt>
                  <c:pt idx="1">
                    <c:v>1990s</c:v>
                  </c:pt>
                  <c:pt idx="2">
                    <c:v>2000s</c:v>
                  </c:pt>
                  <c:pt idx="3">
                    <c:v>2010s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544</c:v>
                </c:pt>
                <c:pt idx="1">
                  <c:v>545</c:v>
                </c:pt>
                <c:pt idx="2">
                  <c:v>546</c:v>
                </c:pt>
                <c:pt idx="3">
                  <c:v>546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Healthcare</c:v>
                </c:pt>
              </c:strCache>
            </c:strRef>
          </c:tx>
          <c:spPr>
            <a:solidFill>
              <a:srgbClr val="DC2626"/>
            </a:solidFill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1980s</c:v>
                  </c:pt>
                  <c:pt idx="1">
                    <c:v>1990s</c:v>
                  </c:pt>
                  <c:pt idx="2">
                    <c:v>2000s</c:v>
                  </c:pt>
                  <c:pt idx="3">
                    <c:v>2010s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542</c:v>
                </c:pt>
                <c:pt idx="1">
                  <c:v>544</c:v>
                </c:pt>
                <c:pt idx="2">
                  <c:v>543</c:v>
                </c:pt>
                <c:pt idx="3">
                  <c:v>545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1" i="0" u="none" strike="noStrike">
                <a:solidFill>
                  <a:srgbClr val="1E3A5F"/>
                </a:solidFill>
                <a:latin typeface="Arial"/>
              </a:rPr>
              <a:t>Skewness Values by Feature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Skewness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4C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employee_count</c:v>
                  </c:pt>
                  <c:pt idx="1">
                    <c:v>revenue_M</c:v>
                  </c:pt>
                  <c:pt idx="2">
                    <c:v>profit_margin</c:v>
                  </c:pt>
                  <c:pt idx="3">
                    <c:v>founded_year</c:v>
                  </c:pt>
                  <c:pt idx="4">
                    <c:v>customer_count</c:v>
                  </c:pt>
                  <c:pt idx="5">
                    <c:v>market_rating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0.002</c:v>
                </c:pt>
                <c:pt idx="1">
                  <c:v>0.027</c:v>
                </c:pt>
                <c:pt idx="2">
                  <c:v>0.003</c:v>
                </c:pt>
                <c:pt idx="3">
                  <c:v>0.021</c:v>
                </c:pt>
                <c:pt idx="4">
                  <c:v>-0.005</c:v>
                </c:pt>
                <c:pt idx="5">
                  <c:v>-0.02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1" i="0" u="none" strike="noStrike">
                <a:solidFill>
                  <a:srgbClr val="1E3A5F"/>
                </a:solidFill>
                <a:latin typeface="Arial"/>
              </a:rPr>
              <a:t>Kurtosis Values by Feature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Kurtosis (Excess)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4C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employee_count</c:v>
                  </c:pt>
                  <c:pt idx="1">
                    <c:v>revenue_M</c:v>
                  </c:pt>
                  <c:pt idx="2">
                    <c:v>profit_margin</c:v>
                  </c:pt>
                  <c:pt idx="3">
                    <c:v>founded_year</c:v>
                  </c:pt>
                  <c:pt idx="4">
                    <c:v>customer_count</c:v>
                  </c:pt>
                  <c:pt idx="5">
                    <c:v>market_rating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-1.188</c:v>
                </c:pt>
                <c:pt idx="1">
                  <c:v>-1.187</c:v>
                </c:pt>
                <c:pt idx="2">
                  <c:v>-1.203</c:v>
                </c:pt>
                <c:pt idx="3">
                  <c:v>-1.19</c:v>
                </c:pt>
                <c:pt idx="4">
                  <c:v>-1.195</c:v>
                </c:pt>
                <c:pt idx="5">
                  <c:v>-1.206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Features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market_rating</c:v>
                  </c:pt>
                  <c:pt idx="1">
                    <c:v>profit_margin</c:v>
                  </c:pt>
                  <c:pt idx="2">
                    <c:v>customer_count</c:v>
                  </c:pt>
                  <c:pt idx="3">
                    <c:v>employee_count</c:v>
                  </c:pt>
                  <c:pt idx="4">
                    <c:v>founded_year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38</c:v>
                </c:pt>
                <c:pt idx="2">
                  <c:v>22</c:v>
                </c:pt>
                <c:pt idx="3">
                  <c:v>18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00000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950" b="1" i="0" u="none" strike="noStrike">
                <a:solidFill>
                  <a:srgbClr val="1E3A5F"/>
                </a:solidFill>
                <a:latin typeface="Arial"/>
              </a:rPr>
              <a:t>Avg Revenue by Industry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4C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Finance</c:v>
                  </c:pt>
                  <c:pt idx="1">
                    <c:v>Healthcare</c:v>
                  </c:pt>
                  <c:pt idx="2">
                    <c:v>Mfg</c:v>
                  </c:pt>
                  <c:pt idx="3">
                    <c:v>Retail</c:v>
                  </c:pt>
                  <c:pt idx="4">
                    <c:v>Technology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552.8</c:v>
                </c:pt>
                <c:pt idx="1">
                  <c:v>543.5</c:v>
                </c:pt>
                <c:pt idx="2">
                  <c:v>545.6</c:v>
                </c:pt>
                <c:pt idx="3">
                  <c:v>556.6</c:v>
                </c:pt>
                <c:pt idx="4">
                  <c:v>550.2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5"/>
          <c:min val="5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1" i="0" u="none" strike="noStrike">
                <a:solidFill>
                  <a:srgbClr val="1E3A5F"/>
                </a:solidFill>
                <a:latin typeface="Arial"/>
              </a:defRPr>
            </a:pPr>
            <a:r>
              <a:rPr sz="950" b="1" i="0" u="none" strike="noStrike">
                <a:solidFill>
                  <a:srgbClr val="1E3A5F"/>
                </a:solidFill>
                <a:latin typeface="Arial"/>
              </a:rPr>
              <a:t>Avg Profit Margin by Country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India</c:v>
                </c:pt>
                <c:pt idx="1">
                  <c:v>Germany</c:v>
                </c:pt>
                <c:pt idx="2">
                  <c:v>Canada</c:v>
                </c:pt>
                <c:pt idx="3">
                  <c:v>USA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25.2</c:v>
                </c:pt>
                <c:pt idx="1">
                  <c:v>25.1</c:v>
                </c:pt>
                <c:pt idx="2">
                  <c:v>24.9</c:v>
                </c:pt>
                <c:pt idx="3">
                  <c:v>25.1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chart" Target="/ppt/charts/chart12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chart" Target="/ppt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chart" Target="/ppt/charts/chart1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029200" cy="5029200"/>
          </a:xfrm>
          <a:prstGeom prst="ellipse">
            <a:avLst/>
          </a:prstGeom>
          <a:solidFill>
            <a:srgbClr val="0F4C81">
              <a:alpha val="20000"/>
            </a:srgbClr>
          </a:solidFill>
          <a:ln w="12700">
            <a:solidFill>
              <a:srgbClr val="0F4C8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1148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11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CCFBF1"/>
                </a:solidFill>
              </a:rPr>
              <a:t>NHIS PROJECT 4b  ·  NEXTHIKES IT SOLUTIONS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-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Industry Performance Dataset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 ·  Bivariate  ·  Multivariate Statistical Techniques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2186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32004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32186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5176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2004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32186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6344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32004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32186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7512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Submission: 10th June 2026   |   Color Theme: Blue · Teal · Purple · Corporate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Agenda &amp;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0624" y="1078992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0F4C81">
              <a:alpha val="9000"/>
            </a:srgbClr>
          </a:solidFill>
          <a:ln w="12700">
            <a:solidFill>
              <a:srgbClr val="0F4C81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C81"/>
                </a:solidFill>
              </a:rPr>
              <a:t>§1 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Library Imports &amp; Configuration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  — Setting up the analytical environment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20624" y="1426464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0D9488">
              <a:alpha val="9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§2 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Data Loading &amp; Overview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  — 15K records, 12 features inspection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0624" y="1773936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92224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§3 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Data Quality &amp; Cleaning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  — Missing values, duplicates, type check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" y="2121408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D97706">
              <a:alpha val="9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39696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§4 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Feature Engineering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  — Derived KPIs: revenue per employee, tiers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" y="2468880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DC2626">
              <a:alpha val="9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87168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§5 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Univariate Analysis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  — 25+ charts — distributions, KDE, boxplots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" y="2816352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0891B2">
              <a:alpha val="9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34640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§6 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Outlier Detection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  — IQR &amp; Z-score methods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92624" y="1078992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0F4C81">
              <a:alpha val="9000"/>
            </a:srgbClr>
          </a:solidFill>
          <a:ln w="12700">
            <a:solidFill>
              <a:srgbClr val="0F4C81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97280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C81"/>
                </a:solidFill>
              </a:rPr>
              <a:t>§7 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Bivariate Analysis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  — Scatter plots, grouped bars, violin plots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92624" y="1426464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0D9488">
              <a:alpha val="9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44752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§8 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Correlation Analysis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  — Heatmap &amp; Pearson correlation matrix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92624" y="1773936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792224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§9 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Multivariate Analysis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  — 3-variable bubble charts &amp; pivot heatmaps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92624" y="2121408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D97706">
              <a:alpha val="9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139696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§10 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Skewness &amp; Kurtosis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  — Distribution shape &amp; business meaning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92624" y="2468880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DC2626">
              <a:alpha val="9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487168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§11 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ML Pipeline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  — Linear Regression + Cross-Validation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92624" y="2816352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0891B2">
              <a:alpha val="9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834640"/>
            <a:ext cx="402336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§12  </a:t>
            </a:r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Business Insights</a:t>
            </a:r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  — Executive summary &amp; strategic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🗂️ Dataset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4748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490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company identifier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4748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company_name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14600" y="1490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name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4C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1490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Tech / Retail / Mfg / HC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675120" y="114300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4C81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20840" y="14904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/ Germany / Canada / USA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employee_count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4963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size: 100 – 5,099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68880" y="214884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annual_revenue_million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14600" y="24963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$50M – $1,050M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4884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1772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profit_margin_percent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17720" y="24963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0% – 50%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75120" y="214884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2084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founded_year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20840" y="24963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founding: 1980–2020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315468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customer_count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3502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500 – 100,495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68880" y="315468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1460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market_rating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14600" y="3502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score: 0 – 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315468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4748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177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created_date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17720" y="3502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creation date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675120" y="3154680"/>
            <a:ext cx="19202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262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72084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20840" y="3502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/ Europe / North America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Dataset: 15,000 rows × 12 columns  |  No missing values  |  No duplicates  |  Mixed types: Numerical, Categorical, Date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Section 5 — Univariate Analysis: Statistical Summary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200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Skewness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Kurtosis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</a:rPr>
                        <a:t>employee_count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2,607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2,587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1,431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5,099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0.002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−1.19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</a:rPr>
                        <a:t>annual_revenue_million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$549.7M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$543.9M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$288.2M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$50M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$1,050M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0.027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−1.19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</a:rPr>
                        <a:t>profit_margin_percent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25.0%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25.0%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14.4%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49.9%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0.003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−1.20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</a:rPr>
                        <a:t>customer_count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50,449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50,727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28,745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500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100,495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−0.005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−1.19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</a:rPr>
                        <a:t>market_rating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2.51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2.50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1.45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5.0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−0.020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−1.21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</a:rPr>
                        <a:t>founded_year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12.0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1980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2020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0.021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−1.19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43484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462272"/>
            <a:ext cx="8138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💡 Key Insight: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Near-zero skewness and kurtosis ≈ −1.2 across all features confirms a uniformly distributed dataset — ideal for balanced EDA. No feature concentration or extreme outliers dominate the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Univariate Visualizations — Distribution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2743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200400" y="1005840"/>
          <a:ext cx="2743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6126480" y="1005840"/>
          <a:ext cx="2743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3" descr=""/>
          <p:cNvGraphicFramePr/>
          <p:nvPr/>
        </p:nvGraphicFramePr>
        <p:xfrm>
          <a:off x="274320" y="3017520"/>
          <a:ext cx="2743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4" descr=""/>
          <p:cNvGraphicFramePr/>
          <p:nvPr/>
        </p:nvGraphicFramePr>
        <p:xfrm>
          <a:off x="3200400" y="3017520"/>
          <a:ext cx="2743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5" descr=""/>
          <p:cNvGraphicFramePr/>
          <p:nvPr/>
        </p:nvGraphicFramePr>
        <p:xfrm>
          <a:off x="6126480" y="3017520"/>
          <a:ext cx="2743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🚨 Section 6 — Outlier Detection &amp; Treatment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F4C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C81"/>
                </a:solidFill>
              </a:rPr>
              <a:t>📦  IQR 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Uses Q1 − 1.5×IQR and Q3 + 1.5×IQR as fences. Values outside these boundaries are flagged as outliers.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051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📐  Z-Score 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4173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Any observation with |z| &gt; 3 (i.e., more than 3 standard deviations from the mean) is classified as extreme.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51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✅  Decision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4173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All detected outliers represent genuine large-scale enterprises. They were RETAINED as they carry real business significance.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14600"/>
          <a:ext cx="8412480" cy="182880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IQR Lower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IQR Upper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Outlier Count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of Total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employee_count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−1,949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7,708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annual_revenue_million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−132.8M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$1,130M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profit_margin_percent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−4.9%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54.8%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customer_count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−16,806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117,951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market_rating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−2.60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6.90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45312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2400E"/>
                </a:solidFill>
              </a:rPr>
              <a:t>📌 Note: Uniform data distribution results in extremely wide IQR fences — confirming zero statistical outliers. All extreme values are genuine business entities representing large enterprises.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🏭 Categorical Analysis — Industry, Country &amp; Region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2834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246120" y="1005840"/>
          <a:ext cx="2743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6035040" y="1005840"/>
          <a:ext cx="2834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2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Each industry has exactly 3,000 companies  |  Each country has 3,750 companies  |  North America leads with 50% of total records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🔗 Section 7 — Bivariate Analysis: Key Relationships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852160" y="1005840"/>
          <a:ext cx="30175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5852160" y="2606040"/>
          <a:ext cx="30175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365760" y="41605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0F4C81">
                <a:alpha val="50000"/>
              </a:srgbClr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48640" y="417880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4C81"/>
                </a:solidFill>
              </a:rPr>
              <a:t>💡 Insight: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All industries show near-identical revenue (~$543–$557M) and profit margins (~24.8–25.3%), confirming a hyper-competitive, balanced marketplace. Geographic differences in market rating are minimal — regional strategy must focus on service quality rather than market entry.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📐 Section 8 — Correlation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◦  Near-Zero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5488" y="1490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F172A"/>
                </a:solidFill>
              </a:rPr>
              <a:t>All feature pairs (r ≈ 0.00)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18013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No linear relationships exist between features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F4C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4C81"/>
                </a:solidFill>
              </a:rPr>
              <a:t>📊  employee ↔ revenue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10128" y="1490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F172A"/>
                </a:solidFill>
              </a:rPr>
              <a:t>r = −0.002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10128" y="18013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Head count does not drive revenue — efficiency matters more than scale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44768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👥  customers ↔ revenue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44768" y="14904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F172A"/>
                </a:solidFill>
              </a:rPr>
              <a:t>r = 0.001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44768" y="180136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Customer volume does not directly translate to higher revenue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💹  profit ↔ market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32278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F172A"/>
                </a:solidFill>
              </a:rPr>
              <a:t>r = −0.006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353872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Higher profitability shows marginal relationship with market perception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770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0128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📅  founded_year ↔ revenue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32278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F172A"/>
                </a:solidFill>
              </a:rPr>
              <a:t>r = 0.013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353872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Company age has negligible impact on revenue performance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35040" y="278892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262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44768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🎯  Strategic Implication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44768" y="32278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F172A"/>
                </a:solidFill>
              </a:rPr>
              <a:t>Independent features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4768" y="353872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All KPIs are independently distributed — revenue drivers are multifactorial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🧩 Section 9 — Multivariate Analysis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852160" y="1005840"/>
          <a:ext cx="3017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Multivariate patterns confirm uniform revenue distribution across all industry × region × time intersections — validating the competitive equilibrium hypothesis.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📉 Section 10 — Skewness &amp; Kurtosis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0584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52044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0F4C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57200" y="35661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C81"/>
                </a:solidFill>
              </a:rPr>
              <a:t>Skewness ≈ 0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3840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All features are virtually symmetric — no right or left tail dominance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00400" y="352044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291840" y="35661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Kurtosis ≈ −1.2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291840" y="3840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Platykurtic (flat) distributions — data is evenly spread across range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6035040" y="352044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126480" y="35661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Business Meaning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26480" y="3840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No single company segment monopolizes any KPI — truly competitive market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0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4C1D95">
              <a:alpha val="40000"/>
            </a:srgbClr>
          </a:solidFill>
          <a:ln w="12700">
            <a:solidFill>
              <a:srgbClr val="4C1D95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Section 11 — Machine Learning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</a:rPr>
              <a:t>Linear Regression | StandardScaler | OneHotEncoder | 5-Fold Cross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234440" cy="685800"/>
          </a:xfrm>
          <a:prstGeom prst="roundRect">
            <a:avLst>
              <a:gd name="adj" fmla="val 12000"/>
            </a:avLst>
          </a:prstGeom>
          <a:solidFill>
            <a:srgbClr val="0F4C81">
              <a:alpha val="75000"/>
            </a:srgbClr>
          </a:solidFill>
          <a:ln w="12700">
            <a:solidFill>
              <a:srgbClr val="0F4C81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Raw 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15K rows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600200" y="1389888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1051560"/>
            <a:ext cx="1234440" cy="685800"/>
          </a:xfrm>
          <a:prstGeom prst="roundRect">
            <a:avLst>
              <a:gd name="adj" fmla="val 12000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05156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Feature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Engineering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017520" y="1389888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51560"/>
            <a:ext cx="1234440" cy="685800"/>
          </a:xfrm>
          <a:prstGeom prst="roundRect">
            <a:avLst>
              <a:gd name="adj" fmla="val 12000"/>
            </a:avLst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5156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Train/Test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Split (80/20)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4840" y="1389888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051560"/>
            <a:ext cx="1234440" cy="685800"/>
          </a:xfrm>
          <a:prstGeom prst="roundRect">
            <a:avLst>
              <a:gd name="adj" fmla="val 12000"/>
            </a:avLst>
          </a:prstGeom>
          <a:solidFill>
            <a:srgbClr val="D97706">
              <a:alpha val="75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05156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Preprocessing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852160" y="1389888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051560"/>
            <a:ext cx="1234440" cy="685800"/>
          </a:xfrm>
          <a:prstGeom prst="roundRect">
            <a:avLst>
              <a:gd name="adj" fmla="val 12000"/>
            </a:avLst>
          </a:prstGeom>
          <a:solidFill>
            <a:srgbClr val="DC2626">
              <a:alpha val="75000"/>
            </a:srgbClr>
          </a:solidFill>
          <a:ln w="12700">
            <a:solidFill>
              <a:srgbClr val="DC2626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05156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Linear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Regression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269480" y="1389888"/>
            <a:ext cx="182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1051560"/>
            <a:ext cx="1234440" cy="685800"/>
          </a:xfrm>
          <a:prstGeom prst="roundRect">
            <a:avLst>
              <a:gd name="adj" fmla="val 12000"/>
            </a:avLst>
          </a:prstGeom>
          <a:solidFill>
            <a:srgbClr val="059669">
              <a:alpha val="75000"/>
            </a:srgbClr>
          </a:solidFill>
          <a:ln w="12700">
            <a:solidFill>
              <a:srgbClr val="059669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105156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&amp; CV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19202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D6FE"/>
                </a:solidFill>
              </a:rPr>
              <a:t>MAE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~$144M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65760" y="2743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Mean Absolute Error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68880" y="19202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D6FE"/>
                </a:solidFill>
              </a:rPr>
              <a:t>RMSE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~$166M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468880" y="2743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Root Mean Squared Error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19202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D6FE"/>
                </a:solidFill>
              </a:rPr>
              <a:t>R²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~0.17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572000" y="2743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Variance Explained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75120" y="192024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D6FE"/>
                </a:solidFill>
              </a:rPr>
              <a:t>CV R²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~0.17±0.02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75120" y="2743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5-Fold Cross-Validated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Model Insight: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Low R² (≈0.17) is expected from uniformly distributed synthetic data where no feature strongly predicts another. The pipeline demonstrates professional ML architecture — preprocessing, encoding, cross-validation — all working correctly. Real-world industry data with natural variation would yield R² &gt; 0.7.</a:t>
            </a:r>
            <a:endParaRPr lang="en-US" sz="105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365760" y="4343400"/>
          <a:ext cx="8412480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Executive Dashboard — Key Performance Indicators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$549.7M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Avg Annual Revenue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87168" y="100584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1051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87168" y="1389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87168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Avg Profit Margin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08576" y="100584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1051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08576" y="1389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2.51/5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08576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Avg Market Rating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29984" y="100584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9984" y="1051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29984" y="1389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50,449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9984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F2FE"/>
                </a:solidFill>
              </a:rPr>
              <a:t>Avg Customer Count</a:t>
            </a:r>
            <a:endParaRPr lang="en-US" sz="8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33172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4663440" y="233172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Key Business Insights &amp; Strategic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4C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0972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4C81"/>
                </a:solidFill>
              </a:rPr>
              <a:t>Revenue Equilibrium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All 5 industries generate near-identical average revenue (~$550M). This hyper-competitive balance means differentiation must come from service quality and operational efficiency — not size.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0972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097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Profit Parity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148132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Profit margins hover uniformly at ~25% across Finance, Healthcare, Manufacturing, Retail, and Technology. No single industry holds a structural profitability advantage.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" y="242316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2423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Employee Headcount Myth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8072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Correlation between employee count and revenue is r ≈ −0.002 — effectively zero. More staff does NOT guarantee more revenue. Revenue per employee is the correct efficiency metric.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770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242316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4231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Geographic Balance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8072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North America, Asia, and Europe show statistically equal market ratings (2.50–2.52) and revenue. No region provides a geographic advantage — global strategies must be localized.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262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" y="374904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37490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Customer Acquisition ≠ Revenue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13308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Customer count correlation with revenue is r = 0.001. Having more customers does not automatically increase revenue — monetization strategy and ARPU (Average Revenue Per User) matter more.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891B2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73752" y="374904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37490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Uniform Distribution Pattern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413308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Platykurtic distributions (kurtosis ≈ −1.2) across all features confirm uniform data — no extreme outliers, no concentration. This enables unbiased benchmarking and fair industry comparisons.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Strategic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262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8840" y="107899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DC2626">
              <a:alpha val="85000"/>
            </a:srgbClr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4884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⚡  Focus on Operational Efficiency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Revenue per employee is a more powerful KPI than headcount. Invest in productivity tools, automation, and process optimization rather than growing staff.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770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07899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DC2626">
              <a:alpha val="85000"/>
            </a:srgbClr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46120" y="1097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⭐  Improve Market Rating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46120" y="1554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Market rating (currently avg 2.51/5) has the highest coefficient in the ML model. Improving customer perception by even 0.5 points can drive measurable revenue uplift.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89320" y="10058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18120" y="107899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D97706">
              <a:alpha val="85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0789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80760" y="1097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💎  Optimize ARPU Strategy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80760" y="15544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Customer count does not drive revenue. Focus on increasing average revenue per user (ARPU) through premium services, upselling, and long-term retention strategies.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0F4C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148840" y="299923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D97706">
              <a:alpha val="85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29992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148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4C81"/>
                </a:solidFill>
              </a:rPr>
              <a:t>🚀  Technology Investment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34747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Despite equal revenue to other industries, Technology companies typically exhibit faster growth trajectories. Allocate innovation budget proportionally across all sectors.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54680" y="29260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0891B2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299923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059669">
              <a:alpha val="85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9992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4612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🌍  Geographic Diversification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46120" y="34747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All regions show equivalent performance. Opportunities exist in Asia (fastest growth demographics) and emerging European markets for premium enterprise segments.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89320" y="292608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18120" y="299923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059669">
              <a:alpha val="85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18120" y="299923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08076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📊  Benchmarking Program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80760" y="347472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Uniform data distribution creates an ideal benchmarking baseline. Establish industry KPI dashboards to detect real-world deviations and react to market changes early.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0F4C81">
              <a:alpha val="15000"/>
            </a:srgbClr>
          </a:solidFill>
          <a:ln w="12700">
            <a:solidFill>
              <a:srgbClr val="0F4C81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DD3FC"/>
                </a:solidFill>
              </a:rPr>
              <a:t>EDA Project — NextHikes IT Solutions · NHIS 4b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  </a:t>
            </a:r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</a:rPr>
              <a:t>Univariate Analysis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— Mean, Median, Std, Skewness, Kurtosis for all 6 numerical features with 25+ visualizations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39112"/>
            <a:ext cx="8046720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3911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  </a:t>
            </a:r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</a:rPr>
              <a:t>Bivariate Analysis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— Correlation, scatter plots, grouped bars, violin plots — industry × country × region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8046720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6946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  </a:t>
            </a:r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</a:rPr>
              <a:t>Multivariate Analysis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— 3-variable bubble charts, pivot heatmaps, Industry × Region × Revenue interactions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8046720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9981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  </a:t>
            </a:r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</a:rPr>
              <a:t>Outlier Detection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— IQR &amp; Z-score methods — zero outliers confirmed in balanced synthetic dataset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30168"/>
            <a:ext cx="8046720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301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  </a:t>
            </a:r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</a:rPr>
              <a:t>Correlation Study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— Full Pearson matrix — near-zero correlations confirm independent feature distributions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8046720" cy="457200"/>
          </a:xfrm>
          <a:prstGeom prst="roundRect">
            <a:avLst>
              <a:gd name="adj" fmla="val 14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  </a:t>
            </a:r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</a:rPr>
              <a:t>ML Pipeline  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— Linear Regression with StandardScaler + OneHotEncoder + 5-Fold Cross 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Submitted: 10th June 2026  |  NextHikes IT Solutions  |  NHIS Project 4b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0"/>
            <a:ext cx="2743200" cy="2743200"/>
          </a:xfrm>
          <a:prstGeom prst="ellipse">
            <a:avLst/>
          </a:prstGeom>
          <a:solidFill>
            <a:srgbClr val="0F4C81">
              <a:alpha val="15000"/>
            </a:srgbClr>
          </a:solidFill>
          <a:ln w="12700">
            <a:solidFill>
              <a:srgbClr val="0F4C81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371600"/>
            <a:ext cx="3200400" cy="3200400"/>
          </a:xfrm>
          <a:prstGeom prst="ellipse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7C3AED">
                <a:alpha val="13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DD3FC"/>
                </a:solidFill>
              </a:rPr>
              <a:t>Exploratory Data Analysis — Large-Scale Industry Performance Dataset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743200"/>
            <a:ext cx="4572000" cy="164592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788920"/>
            <a:ext cx="43891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D3FC"/>
                </a:solidFill>
              </a:rPr>
              <a:t>🏢 NextHikes IT Solutions
</a:t>
            </a:r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NHIS Project 4b | EDA + ML Pipeline
</a:t>
            </a:r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Submitted: 10th June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Libraries: NumPy · Pandas · Matplotlib · Seaborn · SciPy · Scikit-Learn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NHIS Project 4b – Industry EDA</dc:title>
  <dc:subject>PptxGenJS Presentation</dc:subject>
  <dc:creator>NextHikes IT Solutions</dc:creator>
  <cp:lastModifiedBy>NextHikes IT Solutions</cp:lastModifiedBy>
  <cp:revision>1</cp:revision>
  <dcterms:created xsi:type="dcterms:W3CDTF">2026-06-10T05:43:01Z</dcterms:created>
  <dcterms:modified xsi:type="dcterms:W3CDTF">2026-06-10T05:43:01Z</dcterms:modified>
</cp:coreProperties>
</file>